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4630400" cy="8229600"/>
  <p:notesSz cx="8229600" cy="14630400"/>
  <p:embeddedFontLst>
    <p:embeddedFont>
      <p:font typeface="Brygada 1918" panose="020B0604020202020204" charset="0"/>
      <p:regular r:id="rId15"/>
    </p:embeddedFont>
    <p:embeddedFont>
      <p:font typeface="Brygada 1918 Semi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FBAD4A-9F24-46D5-B8E9-D19C37AE3698}" v="2" dt="2026-04-24T17:12:55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557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73B7F-37A6-9B92-172A-AF9B8087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AB959-D4E5-DD91-4B1A-D459D9D0E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0C66E-D0F2-0B56-8358-8B32E45F5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23428-39B6-656B-D302-9815E5010F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41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9FCA2-0303-A7F0-6485-B38BBC9F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DAC01-0CBD-DA0D-427E-FB4165EF5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FB523-9ED1-50A0-6A3A-0901C7698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5C79D-2ECB-F019-6987-CD6C0C73A2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16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9BA6C-2F4C-38EC-E6E6-C301937D0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D44220-D491-AB79-3BD9-1C6C2FF8ED38}"/>
              </a:ext>
            </a:extLst>
          </p:cNvPr>
          <p:cNvSpPr/>
          <p:nvPr/>
        </p:nvSpPr>
        <p:spPr>
          <a:xfrm>
            <a:off x="4036741" y="992458"/>
            <a:ext cx="5609064" cy="73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5550"/>
              </a:lnSpc>
              <a:buNone/>
            </a:pPr>
            <a:r>
              <a:rPr lang="en-US" sz="4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IoT Co-Based Activity</a:t>
            </a:r>
            <a:endParaRPr lang="en-US" sz="4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312BA1-149B-BD04-063C-F0FF0C65F0AE}"/>
              </a:ext>
            </a:extLst>
          </p:cNvPr>
          <p:cNvSpPr/>
          <p:nvPr/>
        </p:nvSpPr>
        <p:spPr>
          <a:xfrm>
            <a:off x="2085278" y="2283756"/>
            <a:ext cx="11751333" cy="1384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7700"/>
              </a:lnSpc>
              <a:buNone/>
            </a:pPr>
            <a:r>
              <a:rPr lang="en-US" sz="6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Case Study on Healthcare</a:t>
            </a:r>
            <a:endParaRPr lang="en-US" sz="6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3331CF-8594-5BA9-1D6E-62E22E125814}"/>
              </a:ext>
            </a:extLst>
          </p:cNvPr>
          <p:cNvSpPr/>
          <p:nvPr/>
        </p:nvSpPr>
        <p:spPr>
          <a:xfrm>
            <a:off x="3256156" y="3969323"/>
            <a:ext cx="10212466" cy="354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850"/>
              </a:lnSpc>
            </a:pPr>
            <a:r>
              <a:rPr lang="en-US" sz="2800" u="sng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Presented by </a:t>
            </a:r>
            <a:r>
              <a:rPr lang="en-US" sz="2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:- Anushka Deshpande (6ETC08)</a:t>
            </a:r>
          </a:p>
          <a:p>
            <a:pPr algn="just">
              <a:lnSpc>
                <a:spcPts val="2850"/>
              </a:lnSpc>
            </a:pPr>
            <a:r>
              <a:rPr lang="en-US" sz="2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                              Ashlesha Thakare (6ETC13)</a:t>
            </a:r>
          </a:p>
          <a:p>
            <a:pPr algn="just">
              <a:lnSpc>
                <a:spcPts val="2850"/>
              </a:lnSpc>
            </a:pPr>
            <a:r>
              <a:rPr lang="en-US" sz="2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                              Monali Bhelkar (6ETC31)</a:t>
            </a:r>
          </a:p>
          <a:p>
            <a:pPr algn="just">
              <a:lnSpc>
                <a:spcPts val="2850"/>
              </a:lnSpc>
            </a:pPr>
            <a:r>
              <a:rPr lang="en-US" sz="2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                              Pranita Bire (6ETC35)</a:t>
            </a:r>
          </a:p>
          <a:p>
            <a:pPr algn="just">
              <a:lnSpc>
                <a:spcPts val="2850"/>
              </a:lnSpc>
            </a:pPr>
            <a:r>
              <a:rPr lang="en-US" sz="2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                              Triveni Dhavandkar (6ETC68)</a:t>
            </a:r>
          </a:p>
          <a:p>
            <a:pPr marL="0" indent="0" algn="just">
              <a:lnSpc>
                <a:spcPts val="28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/>
              <a:t>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A053C-987B-05E8-C29F-E232A6ABB642}"/>
              </a:ext>
            </a:extLst>
          </p:cNvPr>
          <p:cNvSpPr txBox="1"/>
          <p:nvPr/>
        </p:nvSpPr>
        <p:spPr>
          <a:xfrm>
            <a:off x="3256156" y="6561304"/>
            <a:ext cx="63896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latin typeface="Brygada 1918" panose="020B0604020202020204" charset="0"/>
                <a:ea typeface="Brygada 1918" panose="020B0604020202020204" charset="0"/>
              </a:rPr>
              <a:t>Presented to </a:t>
            </a:r>
            <a:r>
              <a:rPr lang="en-IN" sz="2800" dirty="0">
                <a:latin typeface="Brygada 1918" panose="020B0604020202020204" charset="0"/>
                <a:ea typeface="Brygada 1918" panose="020B0604020202020204" charset="0"/>
              </a:rPr>
              <a:t>:- Mr Amit Tripathi Sir</a:t>
            </a:r>
          </a:p>
          <a:p>
            <a:endParaRPr lang="en-IN" sz="2800" u="sng" dirty="0">
              <a:latin typeface="Brygada 1918" panose="020B0604020202020204" charset="0"/>
              <a:ea typeface="Brygada 1918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001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9069"/>
            <a:ext cx="64834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Healthcare Case Studies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28010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Transforming Lives Through Innovation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93790" y="542460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Three real-world cases — cardiac care, diabetes management, and cervical cancer treatment — revealing how data, compassion, and clinical excellence converge to save lives.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309693"/>
            <a:ext cx="1262539" cy="426244"/>
          </a:xfrm>
          <a:prstGeom prst="roundRect">
            <a:avLst>
              <a:gd name="adj" fmla="val 63859"/>
            </a:avLst>
          </a:prstGeom>
          <a:solidFill>
            <a:srgbClr val="EAED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2377678"/>
            <a:ext cx="9903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8266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Human Element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875603"/>
            <a:ext cx="10057209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 Cardiac Patient's Journey</a:t>
            </a:r>
            <a:endParaRPr lang="en-US" sz="6150" dirty="0"/>
          </a:p>
        </p:txBody>
      </p:sp>
      <p:sp>
        <p:nvSpPr>
          <p:cNvPr id="6" name="Text 4"/>
          <p:cNvSpPr/>
          <p:nvPr/>
        </p:nvSpPr>
        <p:spPr>
          <a:xfrm>
            <a:off x="793790" y="519398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Behind every chart and lab result is a person. This case study follows one patient's path from cardiac crisis to recovery — and the clinical decisions that made it possible.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34891"/>
            <a:ext cx="2260402" cy="441484"/>
          </a:xfrm>
          <a:prstGeom prst="roundRect">
            <a:avLst>
              <a:gd name="adj" fmla="val 61654"/>
            </a:avLst>
          </a:prstGeom>
          <a:noFill/>
          <a:ln w="7620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37498" y="1110496"/>
            <a:ext cx="19729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CARDIAC CASE STUDY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6710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 Complex Cardiac Case: Management and Interventions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4198144"/>
            <a:ext cx="30945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What This Case Covers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779288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Patient history, presenting symptoms, and physical exam findings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Diagnostic procedures, imaging results, and critical lab 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Step-by-step treatment progression and complications managed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Critical care interventions and multidisciplinary team decisions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638943" y="3551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638943" y="4161115"/>
            <a:ext cx="4205168" cy="2778323"/>
          </a:xfrm>
          <a:prstGeom prst="roundRect">
            <a:avLst>
              <a:gd name="adj" fmla="val 12246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757" y="4497586"/>
            <a:ext cx="283488" cy="2268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76059" y="4444603"/>
            <a:ext cx="324123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This case illustrates how structured documentation and timely intervention directly influence survival and recovery outcomes in acute cardiac settings.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4152"/>
            <a:ext cx="107821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From Crisis to Care: A Patient's Recovery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33092"/>
            <a:ext cx="6407944" cy="1692712"/>
          </a:xfrm>
          <a:prstGeom prst="roundRect">
            <a:avLst>
              <a:gd name="adj" fmla="val 20100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8224" y="3067526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🚨</a:t>
            </a: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Admission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565565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Acute presentation with hemodynamic instability requiring immediate stabilization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833092"/>
            <a:ext cx="6408063" cy="1692712"/>
          </a:xfrm>
          <a:prstGeom prst="roundRect">
            <a:avLst>
              <a:gd name="adj" fmla="val 20100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62982" y="3067526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🔬</a:t>
            </a: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Diagnosis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3565565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Imaging and labs confirm complex cardiac pathology requiring intervention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752618"/>
            <a:ext cx="6407944" cy="1692712"/>
          </a:xfrm>
          <a:prstGeom prst="roundRect">
            <a:avLst>
              <a:gd name="adj" fmla="val 20100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8224" y="498705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💊 Intervention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485090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Targeted procedures and critical care protocols restore cardiac function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752618"/>
            <a:ext cx="6408063" cy="1692712"/>
          </a:xfrm>
          <a:prstGeom prst="roundRect">
            <a:avLst>
              <a:gd name="adj" fmla="val 20100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662982" y="498705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✅ Recovery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5485090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Stable rhythm achieved; patient transitions to rehabilitation and discharge planning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309693"/>
            <a:ext cx="1280636" cy="426244"/>
          </a:xfrm>
          <a:prstGeom prst="roundRect">
            <a:avLst>
              <a:gd name="adj" fmla="val 63859"/>
            </a:avLst>
          </a:prstGeom>
          <a:solidFill>
            <a:srgbClr val="EAED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2377678"/>
            <a:ext cx="100845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826663"/>
            <a:ext cx="61040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Programmatic Success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875603"/>
            <a:ext cx="10546318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Combating Diabetes at Scale</a:t>
            </a:r>
            <a:endParaRPr lang="en-US" sz="6150" dirty="0"/>
          </a:p>
        </p:txBody>
      </p:sp>
      <p:sp>
        <p:nvSpPr>
          <p:cNvPr id="6" name="Text 4"/>
          <p:cNvSpPr/>
          <p:nvPr/>
        </p:nvSpPr>
        <p:spPr>
          <a:xfrm>
            <a:off x="793790" y="519398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Diabetes is a global epidemic — but structured, data-driven programs are proving that population-level outcomes can improve dramatically when care is coordinated, measured, and patient-centered.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0568" y="503515"/>
            <a:ext cx="1554599" cy="292060"/>
          </a:xfrm>
          <a:prstGeom prst="roundRect">
            <a:avLst>
              <a:gd name="adj" fmla="val 66986"/>
            </a:avLst>
          </a:prstGeom>
          <a:noFill/>
          <a:ln w="7620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795939" y="559951"/>
            <a:ext cx="1343858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DIABETES PROGRAM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0568" y="842367"/>
            <a:ext cx="11249144" cy="101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Enhancing Healthcare: The RIPA/Excellus Diabetes Program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90568" y="3380065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Program Highlights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0568" y="3752017"/>
            <a:ext cx="5425678" cy="1467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PFP (Pay for Performance) model driving measurable HbA1c reductions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ROI analysis demonstrating cost savings alongside improved outcomes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Implementation strategies transferable to other healthcare systems</a:t>
            </a:r>
            <a:endParaRPr lang="en-US" sz="125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Lessons learned from real-world deployment at scale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90568" y="5351145"/>
            <a:ext cx="5425678" cy="1016913"/>
          </a:xfrm>
          <a:prstGeom prst="roundRect">
            <a:avLst>
              <a:gd name="adj" fmla="val 24048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565" y="5579864"/>
            <a:ext cx="203716" cy="1629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20278" y="5509022"/>
            <a:ext cx="473297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program demonstrated that aligning financial incentives with quality metrics produces sustainable, scalable improvements in chronic disease management.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535" y="2168604"/>
            <a:ext cx="5425678" cy="5425678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1535" y="2168604"/>
            <a:ext cx="5425678" cy="54256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8136"/>
            <a:ext cx="98081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Data-Driven Success, Human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9042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↓1.2%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145143" y="4422219"/>
            <a:ext cx="34557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Average HbA1c Reduction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91263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Observed across program participants within 12 months of enrollment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39042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3:1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44540" y="4422219"/>
            <a:ext cx="29412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Return on Investment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91263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For every dollar invested in the program, three dollars saved in avoided complications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39042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78%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4222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Patient Satisfaction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91263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Reported higher engagement and confidence in managing their condition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309693"/>
            <a:ext cx="1271588" cy="426244"/>
          </a:xfrm>
          <a:prstGeom prst="roundRect">
            <a:avLst>
              <a:gd name="adj" fmla="val 63859"/>
            </a:avLst>
          </a:prstGeom>
          <a:solidFill>
            <a:srgbClr val="EAED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2377678"/>
            <a:ext cx="9994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8266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Specialized Care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875603"/>
            <a:ext cx="10930533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Cervical Cancer Management</a:t>
            </a:r>
            <a:endParaRPr lang="en-US" sz="6150" dirty="0"/>
          </a:p>
        </p:txBody>
      </p:sp>
      <p:sp>
        <p:nvSpPr>
          <p:cNvPr id="6" name="Text 4"/>
          <p:cNvSpPr/>
          <p:nvPr/>
        </p:nvSpPr>
        <p:spPr>
          <a:xfrm>
            <a:off x="793790" y="519398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Cervical cancer remains a leading cause of mortality in underserved communities. This case study examines how clinical rigor, nursing excellence, and community awareness converge to change outcomes — one patient at a time.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87517"/>
            <a:ext cx="2301002" cy="441484"/>
          </a:xfrm>
          <a:prstGeom prst="roundRect">
            <a:avLst>
              <a:gd name="adj" fmla="val 61654"/>
            </a:avLst>
          </a:prstGeom>
          <a:noFill/>
          <a:ln w="7620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37498" y="1163122"/>
            <a:ext cx="20135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CLINICAL CASE STUDY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19726"/>
            <a:ext cx="122977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Comprehensive Clinical Case: Cervical Cancer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42632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Case Setting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844415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Clinical case conducted at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Hospital Eugenio Espejo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examining real-world diagnosis, treatment pathways, and nursing interventions for cervical cancer.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638943" y="2895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38943" y="33405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Key Areas of Analysis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8943" y="3921681"/>
            <a:ext cx="4205168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Diagnostic workup: staging, imaging, and histopathology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Treatment protocols: surgery, chemotherapy, and radiation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Nursing interventions and patient education strategies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Community impact and implications for public health policy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60559"/>
            <a:ext cx="6344126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Future of Healthcare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645325"/>
            <a:ext cx="11913632" cy="932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00"/>
              </a:lnSpc>
              <a:buNone/>
            </a:pPr>
            <a:r>
              <a:rPr lang="en-US" sz="5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Innovation and Patient-Centricity</a:t>
            </a:r>
            <a:endParaRPr lang="en-US" sz="5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724" y="2893397"/>
            <a:ext cx="324207" cy="324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9111" y="2886789"/>
            <a:ext cx="370248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Targeted Interventions Work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459111" y="3348157"/>
            <a:ext cx="1241464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From cardiac crises to chronic disease, precision care improves survival and quality of life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724" y="4104620"/>
            <a:ext cx="324207" cy="3242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59111" y="409801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Data Is the Compass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459111" y="4559379"/>
            <a:ext cx="1241464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Measuring outcomes, ROI, and patient satisfaction drives continuous improvement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724" y="5315843"/>
            <a:ext cx="324207" cy="3242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59111" y="5309235"/>
            <a:ext cx="525672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Human-Centered Care Is Non-Negotiable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459111" y="5770602"/>
            <a:ext cx="1241464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Technology and data must always serve the patient — not the other way around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756642" y="6340197"/>
            <a:ext cx="13117116" cy="1228844"/>
          </a:xfrm>
          <a:prstGeom prst="roundRect">
            <a:avLst>
              <a:gd name="adj" fmla="val 26390"/>
            </a:avLst>
          </a:prstGeom>
          <a:solidFill>
            <a:srgbClr val="DFE4C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741" y="6657261"/>
            <a:ext cx="270153" cy="2160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58992" y="6600111"/>
            <a:ext cx="1219866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Call to Action:</a:t>
            </a:r>
            <a:r>
              <a:rPr lang="en-US" sz="17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Embrace data-driven strategies, invest in comprehensive programs, and never lose sight of the human story behind every case.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10D48-BA7A-029C-E078-C5E6F929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879F39B-F299-2767-7D94-5C254E4D66FD}"/>
              </a:ext>
            </a:extLst>
          </p:cNvPr>
          <p:cNvSpPr/>
          <p:nvPr/>
        </p:nvSpPr>
        <p:spPr>
          <a:xfrm>
            <a:off x="4895385" y="3245005"/>
            <a:ext cx="4594303" cy="947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00"/>
              </a:lnSpc>
              <a:buNone/>
            </a:pPr>
            <a:r>
              <a:rPr lang="en-US" sz="5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THANK-YOU</a:t>
            </a:r>
            <a:endParaRPr lang="en-US" sz="5850" dirty="0"/>
          </a:p>
        </p:txBody>
      </p:sp>
    </p:spTree>
    <p:extLst>
      <p:ext uri="{BB962C8B-B14F-4D97-AF65-F5344CB8AC3E}">
        <p14:creationId xmlns:p14="http://schemas.microsoft.com/office/powerpoint/2010/main" val="3240788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611</Words>
  <Application>Microsoft Office PowerPoint</Application>
  <PresentationFormat>Custom</PresentationFormat>
  <Paragraphs>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Brygada 1918</vt:lpstr>
      <vt:lpstr>Brygada 1918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Vivek Bhelkar</dc:creator>
  <cp:lastModifiedBy>Vivek Bhelkar</cp:lastModifiedBy>
  <cp:revision>3</cp:revision>
  <dcterms:created xsi:type="dcterms:W3CDTF">2026-04-22T18:52:09Z</dcterms:created>
  <dcterms:modified xsi:type="dcterms:W3CDTF">2026-04-24T17:50:06Z</dcterms:modified>
</cp:coreProperties>
</file>